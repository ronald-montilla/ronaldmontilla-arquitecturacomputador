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ebo" charset="1" panose="00000500000000000000"/>
      <p:regular r:id="rId20"/>
    </p:embeddedFont>
    <p:embeddedFont>
      <p:font typeface="Heebo Light" charset="1" panose="00000400000000000000"/>
      <p:regular r:id="rId21"/>
    </p:embeddedFont>
    <p:embeddedFont>
      <p:font typeface="Inter" charset="1" panose="02000503000000020004"/>
      <p:regular r:id="rId22"/>
    </p:embeddedFont>
    <p:embeddedFont>
      <p:font typeface="Heebo Bold" charset="1" panose="00000800000000000000"/>
      <p:regular r:id="rId23"/>
    </p:embeddedFont>
    <p:embeddedFont>
      <p:font typeface="Inter Italics" charset="1" panose="02000503000000020004"/>
      <p:regular r:id="rId26"/>
    </p:embeddedFont>
    <p:embeddedFont>
      <p:font typeface="Inter Bold" charset="1" panose="02000503000000020004"/>
      <p:regular r:id="rId31"/>
    </p:embeddedFont>
    <p:embeddedFont>
      <p:font typeface="Consolas" charset="1" panose="020B0609020204030204"/>
      <p:regular r:id="rId33"/>
    </p:embeddedFont>
    <p:embeddedFont>
      <p:font typeface="Canva Sans Bold" charset="1" panose="020B0803030501040103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Presentación de defensa técnica: Proyecto 06, optimización de jerarquía de memoria mediante prefetching.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la brecha exponencial de velocidad entre ciclos de reloj del cómputo y acceso a DRAM.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Destacar que precargar a ciegas puede deteriorar la eficiencia si la tasa de acierto es inferior al costo de expulsión.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la separación de responsabilidades: el núcleo de la caché desconoce la heurística del prefetcher gracias al polimorfismo.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Detallar cómo se extraen los campos de dirección mediante desplazamientos y máscaras lógicas en cada referencia de memoria.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que los Stream Buffers filtran los datos antes de insertarlos a la caché principal para no desalojar líneas válidas prematuramente.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Comentar la máquina de estados finita: si el salto cambia en estado Confident, transiciona a Transient antes de invalidar el patrón.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validación por bitwise previene errores de división de conjuntos y garantiza que la simulación represente hardware real.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prefetcher secuencial reduce más de la mitad de los accesos a memoria principal en el benchmark P7 gracias al patrón contiguo de los vectores.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cómo la falta de correlación en accesos indexados indirectos provoca que la RPT prediga saltos espurios y degrade el rendimiento.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Presentación de defensa técnica: Proyecto 06, optimización de jerarquía de memoria mediante prefetching.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807758" cy="2150459"/>
            <a:chOff x="0" y="0"/>
            <a:chExt cx="11743677" cy="28672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43690" cy="2867279"/>
            </a:xfrm>
            <a:custGeom>
              <a:avLst/>
              <a:gdLst/>
              <a:ahLst/>
              <a:cxnLst/>
              <a:rect r="r" b="b" t="t" l="l"/>
              <a:pathLst>
                <a:path h="2867279" w="11743690">
                  <a:moveTo>
                    <a:pt x="0" y="0"/>
                  </a:moveTo>
                  <a:lnTo>
                    <a:pt x="11743690" y="0"/>
                  </a:lnTo>
                  <a:lnTo>
                    <a:pt x="11743690" y="2867279"/>
                  </a:lnTo>
                  <a:lnTo>
                    <a:pt x="0" y="286727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94082" y="0"/>
            <a:ext cx="8807758" cy="2150459"/>
            <a:chOff x="0" y="0"/>
            <a:chExt cx="11743677" cy="2867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43690" cy="2867279"/>
            </a:xfrm>
            <a:custGeom>
              <a:avLst/>
              <a:gdLst/>
              <a:ahLst/>
              <a:cxnLst/>
              <a:rect r="r" b="b" t="t" l="l"/>
              <a:pathLst>
                <a:path h="2867279" w="11743690">
                  <a:moveTo>
                    <a:pt x="0" y="0"/>
                  </a:moveTo>
                  <a:lnTo>
                    <a:pt x="11743690" y="0"/>
                  </a:lnTo>
                  <a:lnTo>
                    <a:pt x="11743690" y="2867279"/>
                  </a:lnTo>
                  <a:lnTo>
                    <a:pt x="0" y="286727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03085" y="2817886"/>
            <a:ext cx="11295669" cy="4670755"/>
            <a:chOff x="0" y="0"/>
            <a:chExt cx="15060892" cy="62276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060930" cy="6227699"/>
            </a:xfrm>
            <a:custGeom>
              <a:avLst/>
              <a:gdLst/>
              <a:ahLst/>
              <a:cxnLst/>
              <a:rect r="r" b="b" t="t" l="l"/>
              <a:pathLst>
                <a:path h="6227699" w="15060930">
                  <a:moveTo>
                    <a:pt x="0" y="0"/>
                  </a:moveTo>
                  <a:lnTo>
                    <a:pt x="15060930" y="0"/>
                  </a:lnTo>
                  <a:lnTo>
                    <a:pt x="15060930" y="6227699"/>
                  </a:lnTo>
                  <a:lnTo>
                    <a:pt x="0" y="6227699"/>
                  </a:ln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AFCBF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407291" y="830485"/>
            <a:ext cx="7892672" cy="3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"/>
                <a:ea typeface="Heebo"/>
                <a:cs typeface="Heebo"/>
                <a:sym typeface="Heebo"/>
              </a:rPr>
              <a:t>ARQUITECTURA DEL COMPUTADOR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83446" y="374753"/>
            <a:ext cx="980921" cy="1307894"/>
          </a:xfrm>
          <a:custGeom>
            <a:avLst/>
            <a:gdLst/>
            <a:ahLst/>
            <a:cxnLst/>
            <a:rect r="r" b="b" t="t" l="l"/>
            <a:pathLst>
              <a:path h="1307894" w="980921">
                <a:moveTo>
                  <a:pt x="0" y="0"/>
                </a:moveTo>
                <a:lnTo>
                  <a:pt x="980920" y="0"/>
                </a:lnTo>
                <a:lnTo>
                  <a:pt x="980920" y="1307894"/>
                </a:lnTo>
                <a:lnTo>
                  <a:pt x="0" y="1307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19082" y="419475"/>
            <a:ext cx="1218450" cy="1218450"/>
          </a:xfrm>
          <a:custGeom>
            <a:avLst/>
            <a:gdLst/>
            <a:ahLst/>
            <a:cxnLst/>
            <a:rect r="r" b="b" t="t" l="l"/>
            <a:pathLst>
              <a:path h="1218450" w="1218450">
                <a:moveTo>
                  <a:pt x="0" y="0"/>
                </a:moveTo>
                <a:lnTo>
                  <a:pt x="1218450" y="0"/>
                </a:lnTo>
                <a:lnTo>
                  <a:pt x="1218450" y="1218450"/>
                </a:lnTo>
                <a:lnTo>
                  <a:pt x="0" y="1218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285245" y="830485"/>
            <a:ext cx="7892672" cy="3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"/>
                <a:ea typeface="Heebo"/>
                <a:cs typeface="Heebo"/>
                <a:sym typeface="Heebo"/>
              </a:rPr>
              <a:t>UNIVERSIDAD DE CARABOBO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74935" y="3709197"/>
            <a:ext cx="10351980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1801" spc="54">
                <a:solidFill>
                  <a:srgbClr val="444445"/>
                </a:solidFill>
                <a:latin typeface="Heebo Light"/>
                <a:ea typeface="Heebo Light"/>
                <a:cs typeface="Heebo Light"/>
                <a:sym typeface="Heebo Light"/>
              </a:rPr>
              <a:t>PROYECTO 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03879" y="4210402"/>
            <a:ext cx="9923035" cy="1853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6"/>
              </a:lnSpc>
            </a:pPr>
            <a:r>
              <a:rPr lang="en-US" sz="7205">
                <a:solidFill>
                  <a:srgbClr val="1D1D1F"/>
                </a:solidFill>
                <a:latin typeface="Inter"/>
                <a:ea typeface="Inter"/>
                <a:cs typeface="Inter"/>
                <a:sym typeface="Inter"/>
              </a:rPr>
              <a:t>Optimización de Caché con Prefetching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74935" y="6221882"/>
            <a:ext cx="10351980" cy="29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1801" b="true">
                <a:solidFill>
                  <a:srgbClr val="1D1D1F"/>
                </a:solidFill>
                <a:latin typeface="Heebo Bold"/>
                <a:ea typeface="Heebo Bold"/>
                <a:cs typeface="Heebo Bold"/>
                <a:sym typeface="Heebo Bold"/>
              </a:rPr>
              <a:t>Autor:</a:t>
            </a:r>
            <a:r>
              <a:rPr lang="en-US" sz="1801">
                <a:solidFill>
                  <a:srgbClr val="1D1D1F"/>
                </a:solidFill>
                <a:latin typeface="Heebo Light"/>
                <a:ea typeface="Heebo Light"/>
                <a:cs typeface="Heebo Light"/>
                <a:sym typeface="Heebo Light"/>
              </a:rPr>
              <a:t> Ronald Montilla  ·  </a:t>
            </a:r>
            <a:r>
              <a:rPr lang="en-US" sz="1801" b="true">
                <a:solidFill>
                  <a:srgbClr val="1D1D1F"/>
                </a:solidFill>
                <a:latin typeface="Heebo Bold"/>
                <a:ea typeface="Heebo Bold"/>
                <a:cs typeface="Heebo Bold"/>
                <a:sym typeface="Heebo Bold"/>
              </a:rPr>
              <a:t>Profesor:</a:t>
            </a:r>
            <a:r>
              <a:rPr lang="en-US" sz="1801">
                <a:solidFill>
                  <a:srgbClr val="1D1D1F"/>
                </a:solidFill>
                <a:latin typeface="Heebo Light"/>
                <a:ea typeface="Heebo Light"/>
                <a:cs typeface="Heebo Light"/>
                <a:sym typeface="Heebo Light"/>
              </a:rPr>
              <a:t> José Canache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8156048"/>
            <a:ext cx="18301840" cy="2138991"/>
            <a:chOff x="0" y="0"/>
            <a:chExt cx="24402453" cy="28519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02414" cy="2852039"/>
            </a:xfrm>
            <a:custGeom>
              <a:avLst/>
              <a:gdLst/>
              <a:ahLst/>
              <a:cxnLst/>
              <a:rect r="r" b="b" t="t" l="l"/>
              <a:pathLst>
                <a:path h="2852039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852039"/>
                  </a:lnTo>
                  <a:lnTo>
                    <a:pt x="0" y="2852039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57543" y="9042587"/>
            <a:ext cx="17386744" cy="29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18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Implementar técnicas de prefetching para mejorar el rendimiento en accesos a memoria.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77014"/>
            <a:ext cx="2729932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Diagnóstico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31341" y="877014"/>
            <a:ext cx="5460168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Cuello de botella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1535011"/>
            <a:ext cx="7602095" cy="138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El gran problema: Memory Wall frena a la CPU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9848" y="3520469"/>
            <a:ext cx="8876424" cy="162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CPU veloz, RAM lenta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El procesador espera inactivo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Caché fría: primeros accesos fallan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Fallos continúan durante toda la ejecución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0323" y="7750026"/>
            <a:ext cx="4333284" cy="1634661"/>
            <a:chOff x="0" y="0"/>
            <a:chExt cx="5777713" cy="21795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77738" cy="2179574"/>
            </a:xfrm>
            <a:custGeom>
              <a:avLst/>
              <a:gdLst/>
              <a:ahLst/>
              <a:cxnLst/>
              <a:rect r="r" b="b" t="t" l="l"/>
              <a:pathLst>
                <a:path h="2179574" w="5777738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5455539" y="0"/>
                  </a:lnTo>
                  <a:cubicBezTo>
                    <a:pt x="5633466" y="0"/>
                    <a:pt x="5777738" y="144272"/>
                    <a:pt x="5777738" y="322199"/>
                  </a:cubicBezTo>
                  <a:lnTo>
                    <a:pt x="5777738" y="1857375"/>
                  </a:lnTo>
                  <a:cubicBezTo>
                    <a:pt x="5777738" y="2035302"/>
                    <a:pt x="5633466" y="2179574"/>
                    <a:pt x="5455539" y="2179574"/>
                  </a:cubicBezTo>
                  <a:lnTo>
                    <a:pt x="322199" y="2179574"/>
                  </a:lnTo>
                  <a:cubicBezTo>
                    <a:pt x="144272" y="2179574"/>
                    <a:pt x="0" y="2035302"/>
                    <a:pt x="0" y="1857375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67787" y="8097441"/>
            <a:ext cx="3618367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Latencia 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7787" y="8638356"/>
            <a:ext cx="3971058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Cientos de ciclos por fallo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62845" y="7750026"/>
            <a:ext cx="4333427" cy="1634661"/>
            <a:chOff x="0" y="0"/>
            <a:chExt cx="5777903" cy="21795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77992" cy="2179574"/>
            </a:xfrm>
            <a:custGeom>
              <a:avLst/>
              <a:gdLst/>
              <a:ahLst/>
              <a:cxnLst/>
              <a:rect r="r" b="b" t="t" l="l"/>
              <a:pathLst>
                <a:path h="2179574" w="5777992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5455793" y="0"/>
                  </a:lnTo>
                  <a:cubicBezTo>
                    <a:pt x="5633720" y="0"/>
                    <a:pt x="5777992" y="144272"/>
                    <a:pt x="5777992" y="322199"/>
                  </a:cubicBezTo>
                  <a:lnTo>
                    <a:pt x="5777992" y="1857375"/>
                  </a:lnTo>
                  <a:cubicBezTo>
                    <a:pt x="5777992" y="2035302"/>
                    <a:pt x="5633720" y="2179574"/>
                    <a:pt x="5455793" y="2179574"/>
                  </a:cubicBezTo>
                  <a:lnTo>
                    <a:pt x="322199" y="2179574"/>
                  </a:lnTo>
                  <a:cubicBezTo>
                    <a:pt x="144272" y="2179574"/>
                    <a:pt x="0" y="2035302"/>
                    <a:pt x="0" y="1857375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820308" y="8097441"/>
            <a:ext cx="3618519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Pérdida IPC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20308" y="8638356"/>
            <a:ext cx="3971211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Stalls recurrentes de ejecución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79091" y="2493626"/>
            <a:ext cx="5307654" cy="5307787"/>
            <a:chOff x="0" y="0"/>
            <a:chExt cx="7076872" cy="707705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076821" cy="7077075"/>
            </a:xfrm>
            <a:custGeom>
              <a:avLst/>
              <a:gdLst/>
              <a:ahLst/>
              <a:cxnLst/>
              <a:rect r="r" b="b" t="t" l="l"/>
              <a:pathLst>
                <a:path h="7077075" w="7076821">
                  <a:moveTo>
                    <a:pt x="0" y="0"/>
                  </a:moveTo>
                  <a:lnTo>
                    <a:pt x="7076821" y="0"/>
                  </a:lnTo>
                  <a:lnTo>
                    <a:pt x="7076821" y="7077075"/>
                  </a:lnTo>
                  <a:lnTo>
                    <a:pt x="0" y="7077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157" y="152552"/>
            <a:ext cx="3126562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Riesgo crítico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56043" y="152552"/>
            <a:ext cx="6253134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Efectos colaterales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3157" y="810549"/>
            <a:ext cx="10066010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Prefetching puede contaminar la caché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041" y="3265368"/>
            <a:ext cx="10066010" cy="165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086" indent="-226543" lvl="1">
              <a:lnSpc>
                <a:spcPts val="3362"/>
              </a:lnSpc>
              <a:buFont typeface="Arial"/>
              <a:buChar char="•"/>
            </a:pPr>
            <a:r>
              <a:rPr lang="en-US" sz="25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Precarga datos que nadie llega a usar</a:t>
            </a:r>
          </a:p>
          <a:p>
            <a:pPr algn="l" marL="453086" indent="-226543" lvl="1">
              <a:lnSpc>
                <a:spcPts val="3362"/>
              </a:lnSpc>
              <a:buFont typeface="Arial"/>
              <a:buChar char="•"/>
            </a:pPr>
            <a:r>
              <a:rPr lang="en-US" sz="25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Expulsa líneas con localidad temporal real</a:t>
            </a:r>
          </a:p>
          <a:p>
            <a:pPr algn="l" marL="453086" indent="-226543" lvl="1">
              <a:lnSpc>
                <a:spcPts val="3362"/>
              </a:lnSpc>
              <a:buFont typeface="Arial"/>
              <a:buChar char="•"/>
            </a:pPr>
            <a:r>
              <a:rPr lang="en-US" sz="25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Desperdicia ciclos de bus y ancho de banda</a:t>
            </a:r>
          </a:p>
          <a:p>
            <a:pPr algn="l" marL="453086" indent="-226543" lvl="1">
              <a:lnSpc>
                <a:spcPts val="3362"/>
              </a:lnSpc>
              <a:buFont typeface="Arial"/>
              <a:buChar char="•"/>
            </a:pPr>
            <a:r>
              <a:rPr lang="en-US" sz="25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Resultado: mayor tasa de fallos finales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38395" y="7668789"/>
            <a:ext cx="8521692" cy="2195293"/>
            <a:chOff x="0" y="0"/>
            <a:chExt cx="11362256" cy="29270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62234" cy="2927096"/>
            </a:xfrm>
            <a:custGeom>
              <a:avLst/>
              <a:gdLst/>
              <a:ahLst/>
              <a:cxnLst/>
              <a:rect r="r" b="b" t="t" l="l"/>
              <a:pathLst>
                <a:path h="2927096" w="11362234">
                  <a:moveTo>
                    <a:pt x="0" y="321691"/>
                  </a:moveTo>
                  <a:cubicBezTo>
                    <a:pt x="0" y="144018"/>
                    <a:pt x="249034" y="0"/>
                    <a:pt x="556264" y="0"/>
                  </a:cubicBezTo>
                  <a:lnTo>
                    <a:pt x="10805970" y="0"/>
                  </a:lnTo>
                  <a:cubicBezTo>
                    <a:pt x="11113200" y="0"/>
                    <a:pt x="11362234" y="144018"/>
                    <a:pt x="11362234" y="321691"/>
                  </a:cubicBezTo>
                  <a:lnTo>
                    <a:pt x="11362234" y="2605405"/>
                  </a:lnTo>
                  <a:cubicBezTo>
                    <a:pt x="11362234" y="2783078"/>
                    <a:pt x="11113200" y="2927096"/>
                    <a:pt x="10805970" y="2927096"/>
                  </a:cubicBezTo>
                  <a:lnTo>
                    <a:pt x="556264" y="2927096"/>
                  </a:lnTo>
                  <a:cubicBezTo>
                    <a:pt x="249034" y="2927096"/>
                    <a:pt x="0" y="2783078"/>
                    <a:pt x="0" y="2605405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292563" y="8538418"/>
            <a:ext cx="4363530" cy="53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3"/>
              </a:lnSpc>
            </a:pPr>
            <a:r>
              <a:rPr lang="en-US" sz="3999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Polución de cache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781806" y="2344979"/>
            <a:ext cx="5604939" cy="5605082"/>
            <a:chOff x="0" y="0"/>
            <a:chExt cx="7473252" cy="747344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473315" cy="7473442"/>
            </a:xfrm>
            <a:custGeom>
              <a:avLst/>
              <a:gdLst/>
              <a:ahLst/>
              <a:cxnLst/>
              <a:rect r="r" b="b" t="t" l="l"/>
              <a:pathLst>
                <a:path h="7473442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7473442"/>
                  </a:lnTo>
                  <a:lnTo>
                    <a:pt x="0" y="7473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77014"/>
            <a:ext cx="5261781" cy="3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Diseño de software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63191" y="877014"/>
            <a:ext cx="10523563" cy="3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Simulador de Prefetching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0323" y="2536527"/>
            <a:ext cx="3784283" cy="6353527"/>
            <a:chOff x="0" y="0"/>
            <a:chExt cx="5045710" cy="84713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45710" cy="8471408"/>
            </a:xfrm>
            <a:custGeom>
              <a:avLst/>
              <a:gdLst/>
              <a:ahLst/>
              <a:cxnLst/>
              <a:rect r="r" b="b" t="t" l="l"/>
              <a:pathLst>
                <a:path h="8471408" w="5045710">
                  <a:moveTo>
                    <a:pt x="0" y="550418"/>
                  </a:moveTo>
                  <a:cubicBezTo>
                    <a:pt x="0" y="246380"/>
                    <a:pt x="246380" y="0"/>
                    <a:pt x="550418" y="0"/>
                  </a:cubicBezTo>
                  <a:lnTo>
                    <a:pt x="4495292" y="0"/>
                  </a:lnTo>
                  <a:cubicBezTo>
                    <a:pt x="4799330" y="0"/>
                    <a:pt x="5045710" y="246380"/>
                    <a:pt x="5045710" y="550418"/>
                  </a:cubicBezTo>
                  <a:lnTo>
                    <a:pt x="5045710" y="7920990"/>
                  </a:lnTo>
                  <a:cubicBezTo>
                    <a:pt x="5045710" y="8225028"/>
                    <a:pt x="4799330" y="8471408"/>
                    <a:pt x="4495292" y="8471408"/>
                  </a:cubicBezTo>
                  <a:lnTo>
                    <a:pt x="550418" y="8471408"/>
                  </a:lnTo>
                  <a:cubicBezTo>
                    <a:pt x="246380" y="8471408"/>
                    <a:pt x="0" y="8224901"/>
                    <a:pt x="0" y="7920990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29658" y="2932119"/>
            <a:ext cx="533800" cy="533819"/>
            <a:chOff x="0" y="0"/>
            <a:chExt cx="711733" cy="71175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711708" cy="711708"/>
            </a:xfrm>
            <a:custGeom>
              <a:avLst/>
              <a:gdLst/>
              <a:ahLst/>
              <a:cxnLst/>
              <a:rect r="r" b="b" t="t" l="l"/>
              <a:pathLst>
                <a:path h="711708" w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5" b="-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29658" y="3575037"/>
            <a:ext cx="3145631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POO Estricta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658" y="4115953"/>
            <a:ext cx="3145631" cy="110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Encapsulamiento limpio de bloques, etiquetas y estados.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42624" y="2536527"/>
            <a:ext cx="3784283" cy="6353527"/>
            <a:chOff x="0" y="0"/>
            <a:chExt cx="5045710" cy="84713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45710" cy="8471408"/>
            </a:xfrm>
            <a:custGeom>
              <a:avLst/>
              <a:gdLst/>
              <a:ahLst/>
              <a:cxnLst/>
              <a:rect r="r" b="b" t="t" l="l"/>
              <a:pathLst>
                <a:path h="8471408" w="5045710">
                  <a:moveTo>
                    <a:pt x="0" y="550418"/>
                  </a:moveTo>
                  <a:cubicBezTo>
                    <a:pt x="0" y="246380"/>
                    <a:pt x="246380" y="0"/>
                    <a:pt x="550418" y="0"/>
                  </a:cubicBezTo>
                  <a:lnTo>
                    <a:pt x="4495292" y="0"/>
                  </a:lnTo>
                  <a:cubicBezTo>
                    <a:pt x="4799330" y="0"/>
                    <a:pt x="5045710" y="246380"/>
                    <a:pt x="5045710" y="550418"/>
                  </a:cubicBezTo>
                  <a:lnTo>
                    <a:pt x="5045710" y="7920990"/>
                  </a:lnTo>
                  <a:cubicBezTo>
                    <a:pt x="5045710" y="8225028"/>
                    <a:pt x="4799330" y="8471408"/>
                    <a:pt x="4495292" y="8471408"/>
                  </a:cubicBezTo>
                  <a:lnTo>
                    <a:pt x="550418" y="8471408"/>
                  </a:lnTo>
                  <a:cubicBezTo>
                    <a:pt x="246380" y="8471408"/>
                    <a:pt x="0" y="8224901"/>
                    <a:pt x="0" y="7920990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461959" y="2932119"/>
            <a:ext cx="533800" cy="427025"/>
            <a:chOff x="0" y="0"/>
            <a:chExt cx="711733" cy="56936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11708" cy="569341"/>
            </a:xfrm>
            <a:custGeom>
              <a:avLst/>
              <a:gdLst/>
              <a:ahLst/>
              <a:cxnLst/>
              <a:rect r="r" b="b" t="t" l="l"/>
              <a:pathLst>
                <a:path h="569341" w="711708">
                  <a:moveTo>
                    <a:pt x="0" y="0"/>
                  </a:moveTo>
                  <a:lnTo>
                    <a:pt x="711708" y="0"/>
                  </a:lnTo>
                  <a:lnTo>
                    <a:pt x="711708" y="569341"/>
                  </a:lnTo>
                  <a:lnTo>
                    <a:pt x="0" y="569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5" r="-3" b="-22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61959" y="3468243"/>
            <a:ext cx="349434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Clase Base Prefetch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61959" y="4009158"/>
            <a:ext cx="3145631" cy="74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Interfaz polimórfica pura con métodos virtuales.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74924" y="2536527"/>
            <a:ext cx="3784283" cy="6353527"/>
            <a:chOff x="0" y="0"/>
            <a:chExt cx="5045710" cy="84713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45710" cy="8471408"/>
            </a:xfrm>
            <a:custGeom>
              <a:avLst/>
              <a:gdLst/>
              <a:ahLst/>
              <a:cxnLst/>
              <a:rect r="r" b="b" t="t" l="l"/>
              <a:pathLst>
                <a:path h="8471408" w="5045710">
                  <a:moveTo>
                    <a:pt x="0" y="550418"/>
                  </a:moveTo>
                  <a:cubicBezTo>
                    <a:pt x="0" y="246380"/>
                    <a:pt x="246380" y="0"/>
                    <a:pt x="550418" y="0"/>
                  </a:cubicBezTo>
                  <a:lnTo>
                    <a:pt x="4495292" y="0"/>
                  </a:lnTo>
                  <a:cubicBezTo>
                    <a:pt x="4799330" y="0"/>
                    <a:pt x="5045710" y="246380"/>
                    <a:pt x="5045710" y="550418"/>
                  </a:cubicBezTo>
                  <a:lnTo>
                    <a:pt x="5045710" y="7920990"/>
                  </a:lnTo>
                  <a:cubicBezTo>
                    <a:pt x="5045710" y="8225028"/>
                    <a:pt x="4799330" y="8471408"/>
                    <a:pt x="4495292" y="8471408"/>
                  </a:cubicBezTo>
                  <a:lnTo>
                    <a:pt x="550418" y="8471408"/>
                  </a:lnTo>
                  <a:cubicBezTo>
                    <a:pt x="246380" y="8471408"/>
                    <a:pt x="0" y="8224901"/>
                    <a:pt x="0" y="7920990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94259" y="2932119"/>
            <a:ext cx="533800" cy="533819"/>
            <a:chOff x="0" y="0"/>
            <a:chExt cx="711733" cy="71175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11708" cy="711708"/>
            </a:xfrm>
            <a:custGeom>
              <a:avLst/>
              <a:gdLst/>
              <a:ahLst/>
              <a:cxnLst/>
              <a:rect r="r" b="b" t="t" l="l"/>
              <a:pathLst>
                <a:path h="711708" w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5" b="-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94259" y="3575037"/>
            <a:ext cx="3145631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Patrón Strategy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4259" y="4115953"/>
            <a:ext cx="3145631" cy="74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Intercambio de algoritmos en tiempo de ejecución.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607224" y="2536527"/>
            <a:ext cx="3784283" cy="6353527"/>
            <a:chOff x="0" y="0"/>
            <a:chExt cx="5045710" cy="84713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45710" cy="8471408"/>
            </a:xfrm>
            <a:custGeom>
              <a:avLst/>
              <a:gdLst/>
              <a:ahLst/>
              <a:cxnLst/>
              <a:rect r="r" b="b" t="t" l="l"/>
              <a:pathLst>
                <a:path h="8471408" w="5045710">
                  <a:moveTo>
                    <a:pt x="0" y="550418"/>
                  </a:moveTo>
                  <a:cubicBezTo>
                    <a:pt x="0" y="246380"/>
                    <a:pt x="246380" y="0"/>
                    <a:pt x="550418" y="0"/>
                  </a:cubicBezTo>
                  <a:lnTo>
                    <a:pt x="4495292" y="0"/>
                  </a:lnTo>
                  <a:cubicBezTo>
                    <a:pt x="4799330" y="0"/>
                    <a:pt x="5045710" y="246380"/>
                    <a:pt x="5045710" y="550418"/>
                  </a:cubicBezTo>
                  <a:lnTo>
                    <a:pt x="5045710" y="7920990"/>
                  </a:lnTo>
                  <a:cubicBezTo>
                    <a:pt x="5045710" y="8225028"/>
                    <a:pt x="4799330" y="8471408"/>
                    <a:pt x="4495292" y="8471408"/>
                  </a:cubicBezTo>
                  <a:lnTo>
                    <a:pt x="550418" y="8471408"/>
                  </a:lnTo>
                  <a:cubicBezTo>
                    <a:pt x="246380" y="8471408"/>
                    <a:pt x="0" y="8224901"/>
                    <a:pt x="0" y="7920990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926560" y="2932119"/>
            <a:ext cx="533800" cy="533819"/>
            <a:chOff x="0" y="0"/>
            <a:chExt cx="711733" cy="711759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11708" cy="711708"/>
            </a:xfrm>
            <a:custGeom>
              <a:avLst/>
              <a:gdLst/>
              <a:ahLst/>
              <a:cxnLst/>
              <a:rect r="r" b="b" t="t" l="l"/>
              <a:pathLst>
                <a:path h="711708" w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5" b="-7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926560" y="3575037"/>
            <a:ext cx="3145631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Caché Asociativa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26560" y="4115953"/>
            <a:ext cx="3145631" cy="74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Mapeo por conjuntos con vías parametrizables.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5095" y="9042587"/>
            <a:ext cx="17386744" cy="29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8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C++17 nativo sin dependencias externas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88698" y="1533500"/>
            <a:ext cx="15310603" cy="69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Tecnicas Computacionales para la solución del Problema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5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68118" y="4229203"/>
            <a:ext cx="13951765" cy="6057797"/>
          </a:xfrm>
          <a:custGeom>
            <a:avLst/>
            <a:gdLst/>
            <a:ahLst/>
            <a:cxnLst/>
            <a:rect r="r" b="b" t="t" l="l"/>
            <a:pathLst>
              <a:path h="6057797" w="13951765">
                <a:moveTo>
                  <a:pt x="0" y="0"/>
                </a:moveTo>
                <a:lnTo>
                  <a:pt x="13951764" y="0"/>
                </a:lnTo>
                <a:lnTo>
                  <a:pt x="13951764" y="6057797"/>
                </a:lnTo>
                <a:lnTo>
                  <a:pt x="0" y="6057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204" r="0" b="-1420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5095" y="877014"/>
            <a:ext cx="5261781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Simulación a nivel de bit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63191" y="877014"/>
            <a:ext cx="10523563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Precisión de ciclo y hardware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95" y="1535011"/>
            <a:ext cx="16471659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Fidelidad al hardware, sin atajos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95" y="3968648"/>
            <a:ext cx="16471659" cy="139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Operadores directos a nivel de bits: </a:t>
            </a:r>
            <a:r>
              <a:rPr lang="en-US" sz="2101">
                <a:solidFill>
                  <a:srgbClr val="6C6C6C"/>
                </a:solidFill>
                <a:latin typeface="Heebo"/>
                <a:ea typeface="Heebo"/>
                <a:cs typeface="Heebo"/>
                <a:sym typeface="Heebo"/>
              </a:rPr>
              <a:t>&gt;&gt;</a:t>
            </a: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, </a:t>
            </a:r>
            <a:r>
              <a:rPr lang="en-US" b="true" sz="2101">
                <a:solidFill>
                  <a:srgbClr val="6C6C6C"/>
                </a:solidFill>
                <a:latin typeface="Heebo Bold"/>
                <a:ea typeface="Heebo Bold"/>
                <a:cs typeface="Heebo Bold"/>
                <a:sym typeface="Heebo Bold"/>
              </a:rPr>
              <a:t>&lt;&lt;</a:t>
            </a: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, </a:t>
            </a:r>
            <a:r>
              <a:rPr lang="en-US" sz="2101">
                <a:solidFill>
                  <a:srgbClr val="6C6C6C"/>
                </a:solidFill>
                <a:latin typeface="Heebo"/>
                <a:ea typeface="Heebo"/>
                <a:cs typeface="Heebo"/>
                <a:sym typeface="Heebo"/>
              </a:rPr>
              <a:t>&amp;, |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Tipos </a:t>
            </a:r>
            <a:r>
              <a:rPr lang="en-US" sz="2101">
                <a:solidFill>
                  <a:srgbClr val="6C6C6C"/>
                </a:solidFill>
                <a:latin typeface="Heebo"/>
                <a:ea typeface="Heebo"/>
                <a:cs typeface="Heebo"/>
                <a:sym typeface="Heebo"/>
              </a:rPr>
              <a:t>uint32_t, int32_t</a:t>
            </a: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 rigurosos para direcciones de 32 bits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Descomposición física exacta: Offset, Conjunto y Tag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Cero estructuras abstractas o atajos de software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771" y="152552"/>
            <a:ext cx="3065497" cy="3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Primera Estructura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80593" y="152552"/>
            <a:ext cx="6131300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Patrón contiguo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8771" y="810549"/>
            <a:ext cx="9883111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Motor secuencial: flujo de búferes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8771" y="1788252"/>
            <a:ext cx="9883111" cy="162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Fallo de lectura dispara carga contigua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Stream Buffers desacoplados con reemplazo LRU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Máximo aprovechamiento de localidad espacial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Protección estricta de límites de página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4009" y="8474497"/>
            <a:ext cx="4836700" cy="1634661"/>
            <a:chOff x="0" y="0"/>
            <a:chExt cx="6448933" cy="21795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48933" cy="2179574"/>
            </a:xfrm>
            <a:custGeom>
              <a:avLst/>
              <a:gdLst/>
              <a:ahLst/>
              <a:cxnLst/>
              <a:rect r="r" b="b" t="t" l="l"/>
              <a:pathLst>
                <a:path h="2179574" w="6448933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6126734" y="0"/>
                  </a:lnTo>
                  <a:cubicBezTo>
                    <a:pt x="6304661" y="0"/>
                    <a:pt x="6448933" y="144272"/>
                    <a:pt x="6448933" y="322199"/>
                  </a:cubicBezTo>
                  <a:lnTo>
                    <a:pt x="6448933" y="1857375"/>
                  </a:lnTo>
                  <a:cubicBezTo>
                    <a:pt x="6448933" y="2035302"/>
                    <a:pt x="6304661" y="2179574"/>
                    <a:pt x="6126734" y="2179574"/>
                  </a:cubicBezTo>
                  <a:lnTo>
                    <a:pt x="322199" y="2179574"/>
                  </a:lnTo>
                  <a:cubicBezTo>
                    <a:pt x="144272" y="2179574"/>
                    <a:pt x="0" y="2035302"/>
                    <a:pt x="0" y="1857375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581463" y="8821903"/>
            <a:ext cx="412179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Búfer LRU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79955" y="8474497"/>
            <a:ext cx="4836700" cy="1634661"/>
            <a:chOff x="0" y="0"/>
            <a:chExt cx="6448933" cy="21795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48933" cy="2179574"/>
            </a:xfrm>
            <a:custGeom>
              <a:avLst/>
              <a:gdLst/>
              <a:ahLst/>
              <a:cxnLst/>
              <a:rect r="r" b="b" t="t" l="l"/>
              <a:pathLst>
                <a:path h="2179574" w="6448933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6126734" y="0"/>
                  </a:lnTo>
                  <a:cubicBezTo>
                    <a:pt x="6304661" y="0"/>
                    <a:pt x="6448933" y="144272"/>
                    <a:pt x="6448933" y="322199"/>
                  </a:cubicBezTo>
                  <a:lnTo>
                    <a:pt x="6448933" y="1857375"/>
                  </a:lnTo>
                  <a:cubicBezTo>
                    <a:pt x="6448933" y="2035302"/>
                    <a:pt x="6304661" y="2179574"/>
                    <a:pt x="6126734" y="2179574"/>
                  </a:cubicBezTo>
                  <a:lnTo>
                    <a:pt x="322199" y="2179574"/>
                  </a:lnTo>
                  <a:cubicBezTo>
                    <a:pt x="144272" y="2179574"/>
                    <a:pt x="0" y="2035302"/>
                    <a:pt x="0" y="1857375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5637409" y="8821903"/>
            <a:ext cx="412179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Page Boundary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7409" y="9362818"/>
            <a:ext cx="4474474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Sin cruce de páginas 4KB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84378" y="2196189"/>
            <a:ext cx="5902376" cy="5902519"/>
            <a:chOff x="0" y="0"/>
            <a:chExt cx="7869834" cy="7870025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869809" cy="7870063"/>
            </a:xfrm>
            <a:custGeom>
              <a:avLst/>
              <a:gdLst/>
              <a:ahLst/>
              <a:cxnLst/>
              <a:rect r="r" b="b" t="t" l="l"/>
              <a:pathLst>
                <a:path h="7870063" w="7869809">
                  <a:moveTo>
                    <a:pt x="0" y="0"/>
                  </a:moveTo>
                  <a:lnTo>
                    <a:pt x="7869809" y="0"/>
                  </a:lnTo>
                  <a:lnTo>
                    <a:pt x="7869809" y="7870063"/>
                  </a:lnTo>
                  <a:lnTo>
                    <a:pt x="0" y="7870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77014"/>
            <a:ext cx="5261781" cy="3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segunda </a:t>
            </a: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Estructura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63191" y="877014"/>
            <a:ext cx="10523563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Patrón con stride regular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1535011"/>
            <a:ext cx="16471659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Motor de salto: tabla RPT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2431685"/>
            <a:ext cx="17386744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Tabla de predicción de referencias (Reference Prediction Table) indexada por Program Counter (PC).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5095" y="5292147"/>
            <a:ext cx="16471659" cy="28594"/>
            <a:chOff x="0" y="0"/>
            <a:chExt cx="21962212" cy="381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2238" cy="38100"/>
            </a:xfrm>
            <a:custGeom>
              <a:avLst/>
              <a:gdLst/>
              <a:ahLst/>
              <a:cxnLst/>
              <a:rect r="r" b="b" t="t" l="l"/>
              <a:pathLst>
                <a:path h="38100" w="2196223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43188" y="0"/>
                  </a:lnTo>
                  <a:cubicBezTo>
                    <a:pt x="21953728" y="0"/>
                    <a:pt x="21962238" y="8509"/>
                    <a:pt x="21962238" y="19050"/>
                  </a:cubicBezTo>
                  <a:cubicBezTo>
                    <a:pt x="21962238" y="29591"/>
                    <a:pt x="21953728" y="38100"/>
                    <a:pt x="2194318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35303" y="4491418"/>
            <a:ext cx="28594" cy="800729"/>
            <a:chOff x="0" y="0"/>
            <a:chExt cx="38125" cy="10676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1067562"/>
            </a:xfrm>
            <a:custGeom>
              <a:avLst/>
              <a:gdLst/>
              <a:ahLst/>
              <a:cxnLst/>
              <a:rect r="r" b="b" t="t" l="l"/>
              <a:pathLst>
                <a:path h="106756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8512"/>
                  </a:lnTo>
                  <a:cubicBezTo>
                    <a:pt x="38100" y="1059053"/>
                    <a:pt x="29591" y="1067562"/>
                    <a:pt x="19050" y="1067562"/>
                  </a:cubicBezTo>
                  <a:cubicBezTo>
                    <a:pt x="8509" y="1067562"/>
                    <a:pt x="0" y="1059053"/>
                    <a:pt x="0" y="1048512"/>
                  </a:cubicBezTo>
                  <a:close/>
                </a:path>
              </a:pathLst>
            </a:custGeom>
            <a:solidFill>
              <a:srgbClr val="D4D4D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49511" y="5192058"/>
            <a:ext cx="200177" cy="200177"/>
            <a:chOff x="0" y="0"/>
            <a:chExt cx="266903" cy="266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954" cy="266954"/>
            </a:xfrm>
            <a:custGeom>
              <a:avLst/>
              <a:gdLst/>
              <a:ahLst/>
              <a:cxnLst/>
              <a:rect r="r" b="b" t="t" l="l"/>
              <a:pathLst>
                <a:path h="266954" w="266954">
                  <a:moveTo>
                    <a:pt x="0" y="133477"/>
                  </a:moveTo>
                  <a:cubicBezTo>
                    <a:pt x="0" y="59690"/>
                    <a:pt x="59690" y="0"/>
                    <a:pt x="133477" y="0"/>
                  </a:cubicBezTo>
                  <a:cubicBezTo>
                    <a:pt x="207264" y="0"/>
                    <a:pt x="266954" y="59690"/>
                    <a:pt x="266954" y="133477"/>
                  </a:cubicBezTo>
                  <a:cubicBezTo>
                    <a:pt x="266954" y="207264"/>
                    <a:pt x="207264" y="266954"/>
                    <a:pt x="133477" y="266954"/>
                  </a:cubicBezTo>
                  <a:cubicBezTo>
                    <a:pt x="59690" y="266954"/>
                    <a:pt x="0" y="207137"/>
                    <a:pt x="0" y="133477"/>
                  </a:cubicBezTo>
                  <a:close/>
                </a:path>
              </a:pathLst>
            </a:custGeom>
            <a:solidFill>
              <a:srgbClr val="EEEE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0323" y="3001680"/>
            <a:ext cx="8078553" cy="1494511"/>
            <a:chOff x="0" y="0"/>
            <a:chExt cx="10771403" cy="19926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71378" cy="1992630"/>
            </a:xfrm>
            <a:custGeom>
              <a:avLst/>
              <a:gdLst/>
              <a:ahLst/>
              <a:cxnLst/>
              <a:rect r="r" b="b" t="t" l="l"/>
              <a:pathLst>
                <a:path h="1992630" w="10771378">
                  <a:moveTo>
                    <a:pt x="0" y="322326"/>
                  </a:moveTo>
                  <a:cubicBezTo>
                    <a:pt x="0" y="144272"/>
                    <a:pt x="144272" y="0"/>
                    <a:pt x="322326" y="0"/>
                  </a:cubicBezTo>
                  <a:lnTo>
                    <a:pt x="10449052" y="0"/>
                  </a:lnTo>
                  <a:cubicBezTo>
                    <a:pt x="10627106" y="0"/>
                    <a:pt x="10771378" y="144272"/>
                    <a:pt x="10771378" y="322326"/>
                  </a:cubicBezTo>
                  <a:lnTo>
                    <a:pt x="10771378" y="1670304"/>
                  </a:lnTo>
                  <a:cubicBezTo>
                    <a:pt x="10771378" y="1848358"/>
                    <a:pt x="10627106" y="1992630"/>
                    <a:pt x="10449052" y="1992630"/>
                  </a:cubicBezTo>
                  <a:lnTo>
                    <a:pt x="322326" y="1992630"/>
                  </a:lnTo>
                  <a:cubicBezTo>
                    <a:pt x="144272" y="1992630"/>
                    <a:pt x="0" y="1848358"/>
                    <a:pt x="0" y="1670304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91530" y="3254245"/>
            <a:ext cx="7516149" cy="4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6C6C6C"/>
                </a:solidFill>
                <a:latin typeface="Inter Bold"/>
                <a:ea typeface="Inter Bold"/>
                <a:cs typeface="Inter Bold"/>
                <a:sym typeface="Inter Bold"/>
              </a:rPr>
              <a:t>Initial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1530" y="3826107"/>
            <a:ext cx="7516149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Primera detección de PC; registra dirección base previa.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36618" y="5292147"/>
            <a:ext cx="28594" cy="800729"/>
            <a:chOff x="0" y="0"/>
            <a:chExt cx="38125" cy="10676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1067562"/>
            </a:xfrm>
            <a:custGeom>
              <a:avLst/>
              <a:gdLst/>
              <a:ahLst/>
              <a:cxnLst/>
              <a:rect r="r" b="b" t="t" l="l"/>
              <a:pathLst>
                <a:path h="106756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8512"/>
                  </a:lnTo>
                  <a:cubicBezTo>
                    <a:pt x="38100" y="1059053"/>
                    <a:pt x="29591" y="1067562"/>
                    <a:pt x="19050" y="1067562"/>
                  </a:cubicBezTo>
                  <a:cubicBezTo>
                    <a:pt x="8509" y="1067562"/>
                    <a:pt x="0" y="1059053"/>
                    <a:pt x="0" y="1048512"/>
                  </a:cubicBezTo>
                  <a:close/>
                </a:path>
              </a:pathLst>
            </a:custGeom>
            <a:solidFill>
              <a:srgbClr val="D4D4D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050836" y="5192058"/>
            <a:ext cx="200177" cy="200177"/>
            <a:chOff x="0" y="0"/>
            <a:chExt cx="266903" cy="2669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954" cy="266954"/>
            </a:xfrm>
            <a:custGeom>
              <a:avLst/>
              <a:gdLst/>
              <a:ahLst/>
              <a:cxnLst/>
              <a:rect r="r" b="b" t="t" l="l"/>
              <a:pathLst>
                <a:path h="266954" w="266954">
                  <a:moveTo>
                    <a:pt x="0" y="133477"/>
                  </a:moveTo>
                  <a:cubicBezTo>
                    <a:pt x="0" y="59690"/>
                    <a:pt x="59690" y="0"/>
                    <a:pt x="133477" y="0"/>
                  </a:cubicBezTo>
                  <a:cubicBezTo>
                    <a:pt x="207264" y="0"/>
                    <a:pt x="266954" y="59690"/>
                    <a:pt x="266954" y="133477"/>
                  </a:cubicBezTo>
                  <a:cubicBezTo>
                    <a:pt x="266954" y="207264"/>
                    <a:pt x="207264" y="266954"/>
                    <a:pt x="133477" y="266954"/>
                  </a:cubicBezTo>
                  <a:cubicBezTo>
                    <a:pt x="59690" y="266954"/>
                    <a:pt x="0" y="207137"/>
                    <a:pt x="0" y="133477"/>
                  </a:cubicBezTo>
                  <a:close/>
                </a:path>
              </a:pathLst>
            </a:custGeom>
            <a:solidFill>
              <a:srgbClr val="EEEEF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11648" y="6088104"/>
            <a:ext cx="8078553" cy="1494511"/>
            <a:chOff x="0" y="0"/>
            <a:chExt cx="10771403" cy="19926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71378" cy="1992630"/>
            </a:xfrm>
            <a:custGeom>
              <a:avLst/>
              <a:gdLst/>
              <a:ahLst/>
              <a:cxnLst/>
              <a:rect r="r" b="b" t="t" l="l"/>
              <a:pathLst>
                <a:path h="1992630" w="10771378">
                  <a:moveTo>
                    <a:pt x="0" y="322326"/>
                  </a:moveTo>
                  <a:cubicBezTo>
                    <a:pt x="0" y="144272"/>
                    <a:pt x="144272" y="0"/>
                    <a:pt x="322326" y="0"/>
                  </a:cubicBezTo>
                  <a:lnTo>
                    <a:pt x="10449052" y="0"/>
                  </a:lnTo>
                  <a:cubicBezTo>
                    <a:pt x="10627106" y="0"/>
                    <a:pt x="10771378" y="144272"/>
                    <a:pt x="10771378" y="322326"/>
                  </a:cubicBezTo>
                  <a:lnTo>
                    <a:pt x="10771378" y="1670304"/>
                  </a:lnTo>
                  <a:cubicBezTo>
                    <a:pt x="10771378" y="1848358"/>
                    <a:pt x="10627106" y="1992630"/>
                    <a:pt x="10449052" y="1992630"/>
                  </a:cubicBezTo>
                  <a:lnTo>
                    <a:pt x="322326" y="1992630"/>
                  </a:lnTo>
                  <a:cubicBezTo>
                    <a:pt x="144272" y="1992630"/>
                    <a:pt x="0" y="1848358"/>
                    <a:pt x="0" y="1670304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392845" y="6340669"/>
            <a:ext cx="7516149" cy="4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6C6C6C"/>
                </a:solidFill>
                <a:latin typeface="Inter Bold"/>
                <a:ea typeface="Inter Bold"/>
                <a:cs typeface="Inter Bold"/>
                <a:sym typeface="Inter Bold"/>
              </a:rPr>
              <a:t>Transient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92845" y="6912540"/>
            <a:ext cx="7516149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Calcula el delta preliminar y verifica la segunda iteración.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337943" y="4491418"/>
            <a:ext cx="28594" cy="800729"/>
            <a:chOff x="0" y="0"/>
            <a:chExt cx="38125" cy="10676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1067562"/>
            </a:xfrm>
            <a:custGeom>
              <a:avLst/>
              <a:gdLst/>
              <a:ahLst/>
              <a:cxnLst/>
              <a:rect r="r" b="b" t="t" l="l"/>
              <a:pathLst>
                <a:path h="106756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48512"/>
                  </a:lnTo>
                  <a:cubicBezTo>
                    <a:pt x="38100" y="1059053"/>
                    <a:pt x="29591" y="1067562"/>
                    <a:pt x="19050" y="1067562"/>
                  </a:cubicBezTo>
                  <a:cubicBezTo>
                    <a:pt x="8509" y="1067562"/>
                    <a:pt x="0" y="1059053"/>
                    <a:pt x="0" y="1048512"/>
                  </a:cubicBezTo>
                  <a:close/>
                </a:path>
              </a:pathLst>
            </a:custGeom>
            <a:solidFill>
              <a:srgbClr val="D4D4D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252152" y="5192058"/>
            <a:ext cx="200177" cy="200177"/>
            <a:chOff x="0" y="0"/>
            <a:chExt cx="266903" cy="266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954" cy="266954"/>
            </a:xfrm>
            <a:custGeom>
              <a:avLst/>
              <a:gdLst/>
              <a:ahLst/>
              <a:cxnLst/>
              <a:rect r="r" b="b" t="t" l="l"/>
              <a:pathLst>
                <a:path h="266954" w="266954">
                  <a:moveTo>
                    <a:pt x="0" y="133477"/>
                  </a:moveTo>
                  <a:cubicBezTo>
                    <a:pt x="0" y="59690"/>
                    <a:pt x="59690" y="0"/>
                    <a:pt x="133477" y="0"/>
                  </a:cubicBezTo>
                  <a:cubicBezTo>
                    <a:pt x="207264" y="0"/>
                    <a:pt x="266954" y="59690"/>
                    <a:pt x="266954" y="133477"/>
                  </a:cubicBezTo>
                  <a:cubicBezTo>
                    <a:pt x="266954" y="207264"/>
                    <a:pt x="207264" y="266954"/>
                    <a:pt x="133477" y="266954"/>
                  </a:cubicBezTo>
                  <a:cubicBezTo>
                    <a:pt x="59690" y="266954"/>
                    <a:pt x="0" y="207137"/>
                    <a:pt x="0" y="133477"/>
                  </a:cubicBezTo>
                  <a:close/>
                </a:path>
              </a:pathLst>
            </a:custGeom>
            <a:solidFill>
              <a:srgbClr val="EEEE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12964" y="3001680"/>
            <a:ext cx="8078553" cy="1494511"/>
            <a:chOff x="0" y="0"/>
            <a:chExt cx="10771403" cy="19926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71378" cy="1992630"/>
            </a:xfrm>
            <a:custGeom>
              <a:avLst/>
              <a:gdLst/>
              <a:ahLst/>
              <a:cxnLst/>
              <a:rect r="r" b="b" t="t" l="l"/>
              <a:pathLst>
                <a:path h="1992630" w="10771378">
                  <a:moveTo>
                    <a:pt x="0" y="322326"/>
                  </a:moveTo>
                  <a:cubicBezTo>
                    <a:pt x="0" y="144272"/>
                    <a:pt x="144272" y="0"/>
                    <a:pt x="322326" y="0"/>
                  </a:cubicBezTo>
                  <a:lnTo>
                    <a:pt x="10449052" y="0"/>
                  </a:lnTo>
                  <a:cubicBezTo>
                    <a:pt x="10627106" y="0"/>
                    <a:pt x="10771378" y="144272"/>
                    <a:pt x="10771378" y="322326"/>
                  </a:cubicBezTo>
                  <a:lnTo>
                    <a:pt x="10771378" y="1670304"/>
                  </a:lnTo>
                  <a:cubicBezTo>
                    <a:pt x="10771378" y="1848358"/>
                    <a:pt x="10627106" y="1992630"/>
                    <a:pt x="10449052" y="1992630"/>
                  </a:cubicBezTo>
                  <a:lnTo>
                    <a:pt x="322326" y="1992630"/>
                  </a:lnTo>
                  <a:cubicBezTo>
                    <a:pt x="144272" y="1992630"/>
                    <a:pt x="0" y="1848358"/>
                    <a:pt x="0" y="1670304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594171" y="3254245"/>
            <a:ext cx="7516149" cy="4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6C6C6C"/>
                </a:solidFill>
                <a:latin typeface="Inter Bold"/>
                <a:ea typeface="Inter Bold"/>
                <a:cs typeface="Inter Bold"/>
                <a:sym typeface="Inter Bold"/>
              </a:rPr>
              <a:t>Confident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94171" y="3826107"/>
            <a:ext cx="7516149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Dos deltas idénticos confirman salto y activan prefetch.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0323" y="7758960"/>
            <a:ext cx="8130978" cy="1634661"/>
            <a:chOff x="0" y="0"/>
            <a:chExt cx="10841304" cy="21795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41355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41355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0519156" y="0"/>
                  </a:lnTo>
                  <a:cubicBezTo>
                    <a:pt x="10697083" y="0"/>
                    <a:pt x="10841355" y="144272"/>
                    <a:pt x="10841355" y="322199"/>
                  </a:cubicBezTo>
                  <a:lnTo>
                    <a:pt x="10841355" y="1857375"/>
                  </a:lnTo>
                  <a:cubicBezTo>
                    <a:pt x="10841355" y="2035302"/>
                    <a:pt x="10697083" y="2179574"/>
                    <a:pt x="10519156" y="2179574"/>
                  </a:cubicBezTo>
                  <a:lnTo>
                    <a:pt x="322199" y="2179574"/>
                  </a:lnTo>
                  <a:cubicBezTo>
                    <a:pt x="144272" y="2179574"/>
                    <a:pt x="0" y="2035302"/>
                    <a:pt x="0" y="1857375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67787" y="8106375"/>
            <a:ext cx="7416060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Saltos Negativos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7787" y="8647290"/>
            <a:ext cx="7768752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Soporte íntegro para bucles decrecientes y recorridos inversos.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60538" y="7758960"/>
            <a:ext cx="8130978" cy="1634661"/>
            <a:chOff x="0" y="0"/>
            <a:chExt cx="10841304" cy="21795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41355" cy="2179574"/>
            </a:xfrm>
            <a:custGeom>
              <a:avLst/>
              <a:gdLst/>
              <a:ahLst/>
              <a:cxnLst/>
              <a:rect r="r" b="b" t="t" l="l"/>
              <a:pathLst>
                <a:path h="2179574" w="10841355">
                  <a:moveTo>
                    <a:pt x="0" y="322199"/>
                  </a:moveTo>
                  <a:cubicBezTo>
                    <a:pt x="0" y="144272"/>
                    <a:pt x="144272" y="0"/>
                    <a:pt x="322199" y="0"/>
                  </a:cubicBezTo>
                  <a:lnTo>
                    <a:pt x="10519156" y="0"/>
                  </a:lnTo>
                  <a:cubicBezTo>
                    <a:pt x="10697083" y="0"/>
                    <a:pt x="10841355" y="144272"/>
                    <a:pt x="10841355" y="322199"/>
                  </a:cubicBezTo>
                  <a:lnTo>
                    <a:pt x="10841355" y="1857375"/>
                  </a:lnTo>
                  <a:cubicBezTo>
                    <a:pt x="10841355" y="2035302"/>
                    <a:pt x="10697083" y="2179574"/>
                    <a:pt x="10519156" y="2179574"/>
                  </a:cubicBezTo>
                  <a:lnTo>
                    <a:pt x="322199" y="2179574"/>
                  </a:lnTo>
                  <a:cubicBezTo>
                    <a:pt x="144272" y="2179574"/>
                    <a:pt x="0" y="2035302"/>
                    <a:pt x="0" y="1857375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618002" y="8106375"/>
            <a:ext cx="7416060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Filtro de Ruido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18002" y="8647290"/>
            <a:ext cx="7768752" cy="38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Requiere regularidad estricta para evitar precargas espurias.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77014"/>
            <a:ext cx="5261781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Marco experimental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63191" y="877014"/>
            <a:ext cx="10523563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Entorno y métricas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1535011"/>
            <a:ext cx="16471659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Metodología de pruebas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0323" y="2498398"/>
            <a:ext cx="3612709" cy="6391656"/>
            <a:chOff x="0" y="0"/>
            <a:chExt cx="4816945" cy="85222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856" cy="8522208"/>
            </a:xfrm>
            <a:custGeom>
              <a:avLst/>
              <a:gdLst/>
              <a:ahLst/>
              <a:cxnLst/>
              <a:rect r="r" b="b" t="t" l="l"/>
              <a:pathLst>
                <a:path h="8522208" w="4816856">
                  <a:moveTo>
                    <a:pt x="0" y="458724"/>
                  </a:moveTo>
                  <a:cubicBezTo>
                    <a:pt x="0" y="205359"/>
                    <a:pt x="205359" y="0"/>
                    <a:pt x="458724" y="0"/>
                  </a:cubicBezTo>
                  <a:lnTo>
                    <a:pt x="4358132" y="0"/>
                  </a:lnTo>
                  <a:cubicBezTo>
                    <a:pt x="4611497" y="0"/>
                    <a:pt x="4816856" y="205359"/>
                    <a:pt x="4816856" y="458724"/>
                  </a:cubicBezTo>
                  <a:lnTo>
                    <a:pt x="4816856" y="8063484"/>
                  </a:lnTo>
                  <a:cubicBezTo>
                    <a:pt x="4816856" y="8316849"/>
                    <a:pt x="4611497" y="8522208"/>
                    <a:pt x="4358132" y="8522208"/>
                  </a:cubicBezTo>
                  <a:lnTo>
                    <a:pt x="458724" y="8522208"/>
                  </a:lnTo>
                  <a:cubicBezTo>
                    <a:pt x="205359" y="8522208"/>
                    <a:pt x="0" y="8316849"/>
                    <a:pt x="0" y="8063484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67787" y="2903487"/>
            <a:ext cx="1219381" cy="21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67787" y="3229566"/>
            <a:ext cx="2897791" cy="28594"/>
            <a:chOff x="0" y="0"/>
            <a:chExt cx="3863721" cy="38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63721" cy="38100"/>
            </a:xfrm>
            <a:custGeom>
              <a:avLst/>
              <a:gdLst/>
              <a:ahLst/>
              <a:cxnLst/>
              <a:rect r="r" b="b" t="t" l="l"/>
              <a:pathLst>
                <a:path h="38100" w="3863721">
                  <a:moveTo>
                    <a:pt x="0" y="0"/>
                  </a:moveTo>
                  <a:lnTo>
                    <a:pt x="3863721" y="0"/>
                  </a:lnTo>
                  <a:lnTo>
                    <a:pt x="386372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D1D1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7787" y="3408226"/>
            <a:ext cx="2897791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Configuración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7787" y="3949141"/>
            <a:ext cx="2897791" cy="110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Parámetros dinámicos: tamaño de bloque, vías y conjuntos.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99821" y="2498398"/>
            <a:ext cx="3612709" cy="6391656"/>
            <a:chOff x="0" y="0"/>
            <a:chExt cx="4816945" cy="85222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856" cy="8522208"/>
            </a:xfrm>
            <a:custGeom>
              <a:avLst/>
              <a:gdLst/>
              <a:ahLst/>
              <a:cxnLst/>
              <a:rect r="r" b="b" t="t" l="l"/>
              <a:pathLst>
                <a:path h="8522208" w="4816856">
                  <a:moveTo>
                    <a:pt x="0" y="458724"/>
                  </a:moveTo>
                  <a:cubicBezTo>
                    <a:pt x="0" y="205359"/>
                    <a:pt x="205359" y="0"/>
                    <a:pt x="458724" y="0"/>
                  </a:cubicBezTo>
                  <a:lnTo>
                    <a:pt x="4358132" y="0"/>
                  </a:lnTo>
                  <a:cubicBezTo>
                    <a:pt x="4611497" y="0"/>
                    <a:pt x="4816856" y="205359"/>
                    <a:pt x="4816856" y="458724"/>
                  </a:cubicBezTo>
                  <a:lnTo>
                    <a:pt x="4816856" y="8063484"/>
                  </a:lnTo>
                  <a:cubicBezTo>
                    <a:pt x="4816856" y="8316849"/>
                    <a:pt x="4611497" y="8522208"/>
                    <a:pt x="4358132" y="8522208"/>
                  </a:cubicBezTo>
                  <a:lnTo>
                    <a:pt x="458724" y="8522208"/>
                  </a:lnTo>
                  <a:cubicBezTo>
                    <a:pt x="205359" y="8522208"/>
                    <a:pt x="0" y="8316849"/>
                    <a:pt x="0" y="8063484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557276" y="2903487"/>
            <a:ext cx="1219381" cy="21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557276" y="3229566"/>
            <a:ext cx="2897791" cy="28594"/>
            <a:chOff x="0" y="0"/>
            <a:chExt cx="3863721" cy="38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63721" cy="38100"/>
            </a:xfrm>
            <a:custGeom>
              <a:avLst/>
              <a:gdLst/>
              <a:ahLst/>
              <a:cxnLst/>
              <a:rect r="r" b="b" t="t" l="l"/>
              <a:pathLst>
                <a:path h="38100" w="3863721">
                  <a:moveTo>
                    <a:pt x="0" y="0"/>
                  </a:moveTo>
                  <a:lnTo>
                    <a:pt x="3863721" y="0"/>
                  </a:lnTo>
                  <a:lnTo>
                    <a:pt x="386372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D1D1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557276" y="3408226"/>
            <a:ext cx="2897791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Validación Bitwise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57276" y="3901516"/>
            <a:ext cx="2897791" cy="81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Comprobación rigurosa: </a:t>
            </a:r>
            <a:r>
              <a:rPr lang="en-US" sz="210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valor &amp; (valor - 1) == 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89310" y="2498398"/>
            <a:ext cx="3612709" cy="6391656"/>
            <a:chOff x="0" y="0"/>
            <a:chExt cx="4816945" cy="85222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16856" cy="8522208"/>
            </a:xfrm>
            <a:custGeom>
              <a:avLst/>
              <a:gdLst/>
              <a:ahLst/>
              <a:cxnLst/>
              <a:rect r="r" b="b" t="t" l="l"/>
              <a:pathLst>
                <a:path h="8522208" w="4816856">
                  <a:moveTo>
                    <a:pt x="0" y="458724"/>
                  </a:moveTo>
                  <a:cubicBezTo>
                    <a:pt x="0" y="205359"/>
                    <a:pt x="205359" y="0"/>
                    <a:pt x="458724" y="0"/>
                  </a:cubicBezTo>
                  <a:lnTo>
                    <a:pt x="4358132" y="0"/>
                  </a:lnTo>
                  <a:cubicBezTo>
                    <a:pt x="4611497" y="0"/>
                    <a:pt x="4816856" y="205359"/>
                    <a:pt x="4816856" y="458724"/>
                  </a:cubicBezTo>
                  <a:lnTo>
                    <a:pt x="4816856" y="8063484"/>
                  </a:lnTo>
                  <a:cubicBezTo>
                    <a:pt x="4816856" y="8316849"/>
                    <a:pt x="4611497" y="8522208"/>
                    <a:pt x="4358132" y="8522208"/>
                  </a:cubicBezTo>
                  <a:lnTo>
                    <a:pt x="458724" y="8522208"/>
                  </a:lnTo>
                  <a:cubicBezTo>
                    <a:pt x="205359" y="8522208"/>
                    <a:pt x="0" y="8316849"/>
                    <a:pt x="0" y="8063484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46774" y="2903487"/>
            <a:ext cx="1219381" cy="21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46774" y="3229566"/>
            <a:ext cx="2897791" cy="28594"/>
            <a:chOff x="0" y="0"/>
            <a:chExt cx="3863721" cy="381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63721" cy="38100"/>
            </a:xfrm>
            <a:custGeom>
              <a:avLst/>
              <a:gdLst/>
              <a:ahLst/>
              <a:cxnLst/>
              <a:rect r="r" b="b" t="t" l="l"/>
              <a:pathLst>
                <a:path h="38100" w="3863721">
                  <a:moveTo>
                    <a:pt x="0" y="0"/>
                  </a:moveTo>
                  <a:lnTo>
                    <a:pt x="3863721" y="0"/>
                  </a:lnTo>
                  <a:lnTo>
                    <a:pt x="386372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D1D1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46774" y="3408226"/>
            <a:ext cx="2897791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Trazas Reales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6774" y="3949141"/>
            <a:ext cx="2897791" cy="110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Matrices dispersas estándar del repositorio Matrix Market.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778808" y="2498398"/>
            <a:ext cx="3612709" cy="6391656"/>
            <a:chOff x="0" y="0"/>
            <a:chExt cx="4816945" cy="85222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16856" cy="8522208"/>
            </a:xfrm>
            <a:custGeom>
              <a:avLst/>
              <a:gdLst/>
              <a:ahLst/>
              <a:cxnLst/>
              <a:rect r="r" b="b" t="t" l="l"/>
              <a:pathLst>
                <a:path h="8522208" w="4816856">
                  <a:moveTo>
                    <a:pt x="0" y="458724"/>
                  </a:moveTo>
                  <a:cubicBezTo>
                    <a:pt x="0" y="205359"/>
                    <a:pt x="205359" y="0"/>
                    <a:pt x="458724" y="0"/>
                  </a:cubicBezTo>
                  <a:lnTo>
                    <a:pt x="4358132" y="0"/>
                  </a:lnTo>
                  <a:cubicBezTo>
                    <a:pt x="4611497" y="0"/>
                    <a:pt x="4816856" y="205359"/>
                    <a:pt x="4816856" y="458724"/>
                  </a:cubicBezTo>
                  <a:lnTo>
                    <a:pt x="4816856" y="8063484"/>
                  </a:lnTo>
                  <a:cubicBezTo>
                    <a:pt x="4816856" y="8316849"/>
                    <a:pt x="4611497" y="8522208"/>
                    <a:pt x="4358132" y="8522208"/>
                  </a:cubicBezTo>
                  <a:lnTo>
                    <a:pt x="458724" y="8522208"/>
                  </a:lnTo>
                  <a:cubicBezTo>
                    <a:pt x="205359" y="8522208"/>
                    <a:pt x="0" y="8316849"/>
                    <a:pt x="0" y="8063484"/>
                  </a:cubicBez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EEEEF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4136262" y="2903487"/>
            <a:ext cx="1219381" cy="21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3"/>
              </a:lnSpc>
            </a:pPr>
            <a:r>
              <a:rPr lang="en-US" sz="210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04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136262" y="3229566"/>
            <a:ext cx="2897791" cy="28594"/>
            <a:chOff x="0" y="0"/>
            <a:chExt cx="3863721" cy="381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3721" cy="38100"/>
            </a:xfrm>
            <a:custGeom>
              <a:avLst/>
              <a:gdLst/>
              <a:ahLst/>
              <a:cxnLst/>
              <a:rect r="r" b="b" t="t" l="l"/>
              <a:pathLst>
                <a:path h="38100" w="3863721">
                  <a:moveTo>
                    <a:pt x="0" y="0"/>
                  </a:moveTo>
                  <a:lnTo>
                    <a:pt x="3863721" y="0"/>
                  </a:lnTo>
                  <a:lnTo>
                    <a:pt x="386372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D1D1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136262" y="3408226"/>
            <a:ext cx="2897791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Métrica Clave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36262" y="3949141"/>
            <a:ext cx="2897791" cy="110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Cobertura de fallos: porcentaje de fallos prevenidos.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5095" y="9042587"/>
            <a:ext cx="17386744" cy="33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8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La cobertura mide: (Fallos_Base - Fallos_Prefetch) / Fallos_Base. Permite comparar objetivamente ambos motores.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77014"/>
            <a:ext cx="5261781" cy="3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Resultados obtenidos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63191" y="877014"/>
            <a:ext cx="10523563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Patrones lineales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2854973"/>
            <a:ext cx="5261781" cy="122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4"/>
              </a:lnSpc>
            </a:pPr>
            <a:r>
              <a:rPr lang="en-US" sz="40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Secuencial domina en matrices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95" y="4369537"/>
            <a:ext cx="6405648" cy="92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6"/>
              </a:lnSpc>
            </a:pPr>
            <a:r>
              <a:rPr lang="en-US" sz="7205">
                <a:solidFill>
                  <a:srgbClr val="1D1D1F"/>
                </a:solidFill>
                <a:latin typeface="Inter"/>
                <a:ea typeface="Inter"/>
                <a:cs typeface="Inter"/>
                <a:sym typeface="Inter"/>
              </a:rPr>
              <a:t>54.79%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95" y="5234873"/>
            <a:ext cx="6405648" cy="40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Cobertura máxima lograda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095" y="5818689"/>
            <a:ext cx="6405648" cy="121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Fallos reducidos: de 18,881 a 8,535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Rango sostenido: entre 44 % y 55 %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Lectura lineal y localidad espacial óptima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78134" y="2465032"/>
            <a:ext cx="9608620" cy="6313761"/>
            <a:chOff x="0" y="0"/>
            <a:chExt cx="12811493" cy="841834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811506" cy="8418322"/>
            </a:xfrm>
            <a:custGeom>
              <a:avLst/>
              <a:gdLst/>
              <a:ahLst/>
              <a:cxnLst/>
              <a:rect r="r" b="b" t="t" l="l"/>
              <a:pathLst>
                <a:path h="8418322" w="12811506">
                  <a:moveTo>
                    <a:pt x="0" y="0"/>
                  </a:moveTo>
                  <a:lnTo>
                    <a:pt x="12811506" y="0"/>
                  </a:lnTo>
                  <a:lnTo>
                    <a:pt x="12811506" y="8418322"/>
                  </a:lnTo>
                  <a:lnTo>
                    <a:pt x="0" y="8418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930832" y="9711480"/>
            <a:ext cx="371008" cy="252012"/>
            <a:chOff x="0" y="0"/>
            <a:chExt cx="494678" cy="3360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4682" cy="336019"/>
            </a:xfrm>
            <a:custGeom>
              <a:avLst/>
              <a:gdLst/>
              <a:ahLst/>
              <a:cxnLst/>
              <a:rect r="r" b="b" t="t" l="l"/>
              <a:pathLst>
                <a:path h="336019" w="494682">
                  <a:moveTo>
                    <a:pt x="0" y="0"/>
                  </a:moveTo>
                  <a:lnTo>
                    <a:pt x="494682" y="0"/>
                  </a:lnTo>
                  <a:lnTo>
                    <a:pt x="494682" y="336019"/>
                  </a:lnTo>
                  <a:lnTo>
                    <a:pt x="0" y="336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151" t="0" r="-3715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94678" cy="3645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>
                  <a:solidFill>
                    <a:srgbClr val="6C6C6C"/>
                  </a:solidFill>
                  <a:latin typeface="Heebo Light"/>
                  <a:ea typeface="Heebo Light"/>
                  <a:cs typeface="Heebo Light"/>
                  <a:sym typeface="Heebo Light"/>
                </a:rPr>
                <a:t>9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5095" y="1497752"/>
            <a:ext cx="7244071" cy="69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562142"/>
                </a:solidFill>
                <a:latin typeface="Inter Bold"/>
                <a:ea typeface="Inter Bold"/>
                <a:cs typeface="Inter Bold"/>
                <a:sym typeface="Inter Bold"/>
              </a:rPr>
              <a:t>Análisis de los resultados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877014"/>
            <a:ext cx="5261781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Caso adverso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63191" y="877014"/>
            <a:ext cx="10523563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1801" spc="54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Degradación por salto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95" y="1535011"/>
            <a:ext cx="16471659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Salto contamina con acceso caótico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0323" y="2536527"/>
            <a:ext cx="6415173" cy="6848170"/>
            <a:chOff x="0" y="0"/>
            <a:chExt cx="8553564" cy="91308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53577" cy="9130919"/>
            </a:xfrm>
            <a:custGeom>
              <a:avLst/>
              <a:gdLst/>
              <a:ahLst/>
              <a:cxnLst/>
              <a:rect r="r" b="b" t="t" l="l"/>
              <a:pathLst>
                <a:path h="9130919" w="8553577">
                  <a:moveTo>
                    <a:pt x="0" y="549910"/>
                  </a:moveTo>
                  <a:cubicBezTo>
                    <a:pt x="0" y="246253"/>
                    <a:pt x="246253" y="0"/>
                    <a:pt x="549910" y="0"/>
                  </a:cubicBezTo>
                  <a:lnTo>
                    <a:pt x="8003667" y="0"/>
                  </a:lnTo>
                  <a:cubicBezTo>
                    <a:pt x="8307324" y="0"/>
                    <a:pt x="8553577" y="246253"/>
                    <a:pt x="8553577" y="549910"/>
                  </a:cubicBezTo>
                  <a:lnTo>
                    <a:pt x="8553577" y="8581009"/>
                  </a:lnTo>
                  <a:cubicBezTo>
                    <a:pt x="8553577" y="8884665"/>
                    <a:pt x="8307324" y="9130919"/>
                    <a:pt x="8003667" y="9130919"/>
                  </a:cubicBezTo>
                  <a:lnTo>
                    <a:pt x="549910" y="9130919"/>
                  </a:lnTo>
                  <a:cubicBezTo>
                    <a:pt x="246253" y="9130919"/>
                    <a:pt x="0" y="8884665"/>
                    <a:pt x="0" y="8581009"/>
                  </a:cubicBezTo>
                  <a:close/>
                </a:path>
              </a:pathLst>
            </a:custGeom>
            <a:solidFill>
              <a:srgbClr val="FFF5F5"/>
            </a:solidFill>
            <a:ln w="9532" cap="sq">
              <a:solidFill>
                <a:srgbClr val="F8D7DA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05916" y="4768186"/>
            <a:ext cx="6014828" cy="35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1801" spc="54">
                <a:solidFill>
                  <a:srgbClr val="8E2565"/>
                </a:solidFill>
                <a:latin typeface="Heebo Light"/>
                <a:ea typeface="Heebo Light"/>
                <a:cs typeface="Heebo Light"/>
                <a:sym typeface="Heebo Light"/>
              </a:rPr>
              <a:t>PEOR ESCENARIO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5916" y="5371186"/>
            <a:ext cx="5623998" cy="925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6"/>
              </a:lnSpc>
            </a:pPr>
            <a:r>
              <a:rPr lang="en-US" sz="7205">
                <a:solidFill>
                  <a:srgbClr val="8E2565"/>
                </a:solidFill>
                <a:latin typeface="Inter"/>
                <a:ea typeface="Inter"/>
                <a:cs typeface="Inter"/>
                <a:sym typeface="Inter"/>
              </a:rPr>
              <a:t>-0.23%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916" y="6236532"/>
            <a:ext cx="5623998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Cobertura negativa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916" y="6777447"/>
            <a:ext cx="6014828" cy="33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8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Fallos totales aumentaron de 14,565 a 14,592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83163" y="2760012"/>
            <a:ext cx="8998553" cy="4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562142"/>
                </a:solidFill>
                <a:latin typeface="Inter"/>
                <a:ea typeface="Inter"/>
                <a:cs typeface="Inter"/>
                <a:sym typeface="Inter"/>
              </a:rPr>
              <a:t>Análisis del fallo heurístico: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83163" y="3343827"/>
            <a:ext cx="8998553" cy="162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Índices dispersos irregulares confunden a la tabla RPT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Falso estado Confident inyecta bloques jamás referenciados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Expulsión prematura de líneas útiles de la caché L1</a:t>
            </a:r>
          </a:p>
          <a:p>
            <a:pPr algn="l" marL="380641" indent="-190321" lvl="1">
              <a:lnSpc>
                <a:spcPts val="2824"/>
              </a:lnSpc>
              <a:buFont typeface="Arial"/>
              <a:buChar char="•"/>
            </a:pPr>
            <a:r>
              <a:rPr lang="en-US" sz="2101">
                <a:solidFill>
                  <a:srgbClr val="6C6C6C"/>
                </a:solidFill>
                <a:latin typeface="Heebo Light"/>
                <a:ea typeface="Heebo Light"/>
                <a:cs typeface="Heebo Light"/>
                <a:sym typeface="Heebo Light"/>
              </a:rPr>
              <a:t>Sobrecarga neta del bus de memoria sin beneficio de latencia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37986" y="2687212"/>
            <a:ext cx="11876786" cy="5902192"/>
            <a:chOff x="0" y="0"/>
            <a:chExt cx="15060892" cy="74845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60930" cy="7484565"/>
            </a:xfrm>
            <a:custGeom>
              <a:avLst/>
              <a:gdLst/>
              <a:ahLst/>
              <a:cxnLst/>
              <a:rect r="r" b="b" t="t" l="l"/>
              <a:pathLst>
                <a:path h="7484565" w="15060930">
                  <a:moveTo>
                    <a:pt x="0" y="0"/>
                  </a:moveTo>
                  <a:lnTo>
                    <a:pt x="15060930" y="0"/>
                  </a:lnTo>
                  <a:lnTo>
                    <a:pt x="15060930" y="7484565"/>
                  </a:lnTo>
                  <a:lnTo>
                    <a:pt x="0" y="7484565"/>
                  </a:lnTo>
                  <a:close/>
                </a:path>
              </a:pathLst>
            </a:custGeom>
            <a:solidFill>
              <a:srgbClr val="EEEEF2"/>
            </a:solidFill>
            <a:ln w="9532" cap="sq">
              <a:solidFill>
                <a:srgbClr val="AFCBF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496166" y="4284050"/>
            <a:ext cx="11295669" cy="155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FIN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22356" y="4445975"/>
            <a:ext cx="1218450" cy="1218450"/>
          </a:xfrm>
          <a:custGeom>
            <a:avLst/>
            <a:gdLst/>
            <a:ahLst/>
            <a:cxnLst/>
            <a:rect r="r" b="b" t="t" l="l"/>
            <a:pathLst>
              <a:path h="1218450" w="1218450">
                <a:moveTo>
                  <a:pt x="0" y="0"/>
                </a:moveTo>
                <a:lnTo>
                  <a:pt x="1218450" y="0"/>
                </a:lnTo>
                <a:lnTo>
                  <a:pt x="1218450" y="1218450"/>
                </a:lnTo>
                <a:lnTo>
                  <a:pt x="0" y="1218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53627" y="4489553"/>
            <a:ext cx="980921" cy="1307894"/>
          </a:xfrm>
          <a:custGeom>
            <a:avLst/>
            <a:gdLst/>
            <a:ahLst/>
            <a:cxnLst/>
            <a:rect r="r" b="b" t="t" l="l"/>
            <a:pathLst>
              <a:path h="1307894" w="980921">
                <a:moveTo>
                  <a:pt x="0" y="0"/>
                </a:moveTo>
                <a:lnTo>
                  <a:pt x="980921" y="0"/>
                </a:lnTo>
                <a:lnTo>
                  <a:pt x="980921" y="1307894"/>
                </a:lnTo>
                <a:lnTo>
                  <a:pt x="0" y="1307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10599" y="6040689"/>
            <a:ext cx="11066802" cy="1967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514F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</a:t>
            </a:r>
            <a:r>
              <a:rPr lang="en-US" b="true" sz="2800">
                <a:solidFill>
                  <a:srgbClr val="514F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Una cosa era usar las computadoras como una herramienta, y otra muy distinta dejar que pensaran por ti”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b="true" sz="2800">
                <a:solidFill>
                  <a:srgbClr val="514F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-Thomas Leo Clancy Jr.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DAHX_DwS0s8</dc:identifier>
  <dcterms:modified xsi:type="dcterms:W3CDTF">2011-08-01T06:04:30Z</dcterms:modified>
  <cp:revision>1</cp:revision>
  <dc:title>Proyecto-06-Optimizacion-de-Cache-con-Prefetching.pptx</dc:title>
</cp:coreProperties>
</file>